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80" r:id="rId3"/>
    <p:sldId id="278" r:id="rId4"/>
    <p:sldId id="261" r:id="rId5"/>
    <p:sldId id="263" r:id="rId6"/>
    <p:sldId id="281" r:id="rId7"/>
    <p:sldId id="264" r:id="rId8"/>
    <p:sldId id="267" r:id="rId9"/>
    <p:sldId id="282" r:id="rId10"/>
    <p:sldId id="283" r:id="rId11"/>
    <p:sldId id="284" r:id="rId12"/>
    <p:sldId id="285" r:id="rId13"/>
    <p:sldId id="286" r:id="rId14"/>
    <p:sldId id="287" r:id="rId15"/>
    <p:sldId id="288" r:id="rId16"/>
    <p:sldId id="289" r:id="rId17"/>
    <p:sldId id="290" r:id="rId18"/>
    <p:sldId id="291" r:id="rId19"/>
    <p:sldId id="276" r:id="rId20"/>
    <p:sldId id="295" r:id="rId21"/>
    <p:sldId id="259" r:id="rId22"/>
  </p:sldIdLst>
  <p:sldSz cx="12192000" cy="6858000"/>
  <p:notesSz cx="6858000" cy="9144000"/>
  <p:embeddedFontLst>
    <p:embeddedFont>
      <p:font typeface="Libre Baskerville"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2000" cy="6204155"/>
          </a:xfrm>
          <a:prstGeom prst="rect">
            <a:avLst/>
          </a:prstGeom>
          <a:noFill/>
          <a:ln>
            <a:noFill/>
          </a:ln>
        </p:spPr>
      </p:pic>
      <p:sp>
        <p:nvSpPr>
          <p:cNvPr id="99" name="Google Shape;99;p1"/>
          <p:cNvSpPr txBox="1"/>
          <p:nvPr/>
        </p:nvSpPr>
        <p:spPr>
          <a:xfrm>
            <a:off x="2472904" y="3429000"/>
            <a:ext cx="7246189" cy="1569620"/>
          </a:xfrm>
          <a:prstGeom prst="rect">
            <a:avLst/>
          </a:prstGeom>
          <a:noFill/>
          <a:ln>
            <a:noFill/>
          </a:ln>
        </p:spPr>
        <p:txBody>
          <a:bodyPr spcFirstLastPara="1" wrap="square" lIns="91425" tIns="45700" rIns="91425" bIns="45700" anchor="t" anchorCtr="0">
            <a:spAutoFit/>
          </a:bodyPr>
          <a:lstStyle/>
          <a:p>
            <a:pPr lvl="0" algn="ctr">
              <a:buSzPts val="1800"/>
            </a:pPr>
            <a:r>
              <a:rPr lang="en-IN" sz="4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Bank Customer Churn Analysis</a:t>
            </a:r>
            <a:endParaRPr sz="4800" i="0"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BCD2-097C-AB08-F476-BFB1E155ADCF}"/>
              </a:ext>
            </a:extLst>
          </p:cNvPr>
          <p:cNvSpPr>
            <a:spLocks noGrp="1"/>
          </p:cNvSpPr>
          <p:nvPr>
            <p:ph type="title"/>
          </p:nvPr>
        </p:nvSpPr>
        <p:spPr>
          <a:xfrm>
            <a:off x="531434" y="241238"/>
            <a:ext cx="10515600" cy="991727"/>
          </a:xfrm>
        </p:spPr>
        <p:txBody>
          <a:bodyPr/>
          <a:lstStyle/>
          <a:p>
            <a:r>
              <a:rPr lang="en-US" b="1" dirty="0">
                <a:latin typeface="Times New Roman" panose="02020603050405020304" pitchFamily="18" charset="0"/>
                <a:cs typeface="Times New Roman" panose="02020603050405020304" pitchFamily="18" charset="0"/>
              </a:rPr>
              <a:t>Team Members:</a:t>
            </a:r>
          </a:p>
        </p:txBody>
      </p:sp>
      <p:sp>
        <p:nvSpPr>
          <p:cNvPr id="4" name="Rectangle 1">
            <a:extLst>
              <a:ext uri="{FF2B5EF4-FFF2-40B4-BE49-F238E27FC236}">
                <a16:creationId xmlns:a16="http://schemas.microsoft.com/office/drawing/2014/main" id="{E1B9929B-C357-D27B-49AE-F42136576BB9}"/>
              </a:ext>
            </a:extLst>
          </p:cNvPr>
          <p:cNvSpPr>
            <a:spLocks noChangeArrowheads="1"/>
          </p:cNvSpPr>
          <p:nvPr/>
        </p:nvSpPr>
        <p:spPr bwMode="auto">
          <a:xfrm>
            <a:off x="1144966" y="1232965"/>
            <a:ext cx="11047034"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en-US" altLang="en-US" sz="2000" dirty="0">
                <a:solidFill>
                  <a:schemeClr val="tx1"/>
                </a:solidFill>
                <a:latin typeface="Times New Roman" panose="02020603050405020304" pitchFamily="18" charset="0"/>
                <a:cs typeface="Times New Roman" panose="02020603050405020304" pitchFamily="18" charset="0"/>
              </a:rPr>
              <a:t>Dileep Kumar Seepani</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indent="-342900" eaLnBrk="0" fontAlgn="base" hangingPunct="0">
              <a:lnSpc>
                <a:spcPct val="150000"/>
              </a:lnSpc>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Sai Siva Kishore Garapati</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marL="342900" indent="-342900" eaLnBrk="0" fontAlgn="base" hangingPunct="0">
              <a:lnSpc>
                <a:spcPct val="150000"/>
              </a:lnSpc>
              <a:spcBef>
                <a:spcPct val="0"/>
              </a:spcBef>
              <a:spcAft>
                <a:spcPct val="0"/>
              </a:spcAft>
              <a:buClrTx/>
              <a:buFont typeface="Wingdings" panose="05000000000000000000" pitchFamily="2" charset="2"/>
              <a:buChar char="v"/>
            </a:pPr>
            <a:r>
              <a:rPr lang="en-US" altLang="en-US" sz="2000" dirty="0">
                <a:solidFill>
                  <a:schemeClr val="tx1"/>
                </a:solidFill>
                <a:latin typeface="Times New Roman" panose="02020603050405020304" pitchFamily="18" charset="0"/>
                <a:cs typeface="Times New Roman" panose="02020603050405020304" pitchFamily="18" charset="0"/>
              </a:rPr>
              <a:t>Ramesh Babu Pothula</a:t>
            </a:r>
          </a:p>
        </p:txBody>
      </p:sp>
    </p:spTree>
    <p:extLst>
      <p:ext uri="{BB962C8B-B14F-4D97-AF65-F5344CB8AC3E}">
        <p14:creationId xmlns:p14="http://schemas.microsoft.com/office/powerpoint/2010/main" val="192653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01898-F3F3-4391-5B5D-C100FB686C0E}"/>
              </a:ext>
            </a:extLst>
          </p:cNvPr>
          <p:cNvSpPr>
            <a:spLocks noGrp="1"/>
          </p:cNvSpPr>
          <p:nvPr>
            <p:ph type="title"/>
          </p:nvPr>
        </p:nvSpPr>
        <p:spPr>
          <a:xfrm>
            <a:off x="637622" y="276635"/>
            <a:ext cx="10515600" cy="915035"/>
          </a:xfrm>
        </p:spPr>
        <p:txBody>
          <a:bodyPr/>
          <a:lstStyle/>
          <a:p>
            <a:r>
              <a:rPr lang="en-IN" b="1" dirty="0">
                <a:solidFill>
                  <a:schemeClr val="tx1"/>
                </a:solidFill>
                <a:latin typeface="Times New Roman" panose="02020603050405020304" pitchFamily="18" charset="0"/>
                <a:cs typeface="Times New Roman" panose="02020603050405020304" pitchFamily="18" charset="0"/>
              </a:rPr>
              <a:t>Preface:</a:t>
            </a:r>
          </a:p>
        </p:txBody>
      </p:sp>
      <p:sp>
        <p:nvSpPr>
          <p:cNvPr id="3" name="Text Placeholder 2">
            <a:extLst>
              <a:ext uri="{FF2B5EF4-FFF2-40B4-BE49-F238E27FC236}">
                <a16:creationId xmlns:a16="http://schemas.microsoft.com/office/drawing/2014/main" id="{2883F87A-8911-2A6B-0436-A3C21B64F8B1}"/>
              </a:ext>
            </a:extLst>
          </p:cNvPr>
          <p:cNvSpPr>
            <a:spLocks noGrp="1"/>
          </p:cNvSpPr>
          <p:nvPr>
            <p:ph type="body" idx="1"/>
          </p:nvPr>
        </p:nvSpPr>
        <p:spPr>
          <a:xfrm>
            <a:off x="1235177" y="1191670"/>
            <a:ext cx="9721645" cy="4351338"/>
          </a:xfrm>
        </p:spPr>
        <p:txBody>
          <a:bodyPr>
            <a:normAutofit lnSpcReduction="10000"/>
          </a:bodyPr>
          <a:lstStyle/>
          <a:p>
            <a:pPr lvl="0"/>
            <a:r>
              <a:rPr lang="en-IN" b="1"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ABOUT DATASET</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OBJECTIVE</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TOOLS USED</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ANALYSIS ON BANK CUSTOMER CHURN</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KEY FINDINGS &amp; INSIGHTS</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RECOMMENDATIONS</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EXPERIENCE OF WORKING</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252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D0E2DCD9-A327-3BE0-5E99-2B80AB2BF98B}"/>
              </a:ext>
            </a:extLst>
          </p:cNvPr>
          <p:cNvSpPr>
            <a:spLocks noGrp="1"/>
          </p:cNvSpPr>
          <p:nvPr>
            <p:ph type="body" idx="1"/>
          </p:nvPr>
        </p:nvSpPr>
        <p:spPr>
          <a:xfrm>
            <a:off x="837707" y="1380942"/>
            <a:ext cx="10498393" cy="4498748"/>
          </a:xfrm>
        </p:spPr>
        <p:txBody>
          <a:bodyPr>
            <a:normAutofit/>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Project: Bank Customer Churn Analysis</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project is developed using Power BI as the primary tool for data visualization and dashboard creation. The analysis is performed on a dataset containing 10,000 customer records sourced from a European bank operating across the countries like France, Germany, and Spain. The dataset includes key customer attributes such as age, gender, account balance, number of products held, credit score, tenure, activity status, and exit status.</a:t>
            </a:r>
            <a:endParaRPr lang="en-IN" sz="2400" dirty="0">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59894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159773" y="66230"/>
            <a:ext cx="3252019" cy="848176"/>
          </a:xfrm>
        </p:spPr>
        <p:txBody>
          <a:bodyPr>
            <a:normAutofit fontScale="90000"/>
          </a:bodyPr>
          <a:lstStyle/>
          <a:p>
            <a:pPr algn="ctr"/>
            <a:r>
              <a:rPr lang="en-IN" sz="4000" b="1" dirty="0">
                <a:solidFill>
                  <a:schemeClr val="tx1"/>
                </a:solidFill>
                <a:latin typeface="Times New Roman" panose="02020603050405020304" pitchFamily="18" charset="0"/>
                <a:cs typeface="Times New Roman" panose="02020603050405020304" pitchFamily="18" charset="0"/>
              </a:rPr>
              <a:t>About Dataset:</a:t>
            </a:r>
          </a:p>
        </p:txBody>
      </p:sp>
      <p:sp>
        <p:nvSpPr>
          <p:cNvPr id="7" name="Rectangle 2">
            <a:extLst>
              <a:ext uri="{FF2B5EF4-FFF2-40B4-BE49-F238E27FC236}">
                <a16:creationId xmlns:a16="http://schemas.microsoft.com/office/drawing/2014/main" id="{03899DE1-8D38-27E8-AD38-042F2269CD5C}"/>
              </a:ext>
            </a:extLst>
          </p:cNvPr>
          <p:cNvSpPr>
            <a:spLocks noGrp="1" noChangeArrowheads="1"/>
          </p:cNvSpPr>
          <p:nvPr>
            <p:ph type="body" idx="1"/>
          </p:nvPr>
        </p:nvSpPr>
        <p:spPr bwMode="auto">
          <a:xfrm>
            <a:off x="1005348" y="914406"/>
            <a:ext cx="10181303" cy="5698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eaLnBrk="0" fontAlgn="base" hangingPunct="0">
              <a:lnSpc>
                <a:spcPct val="100000"/>
              </a:lnSpc>
              <a:spcBef>
                <a:spcPct val="0"/>
              </a:spcBef>
              <a:spcAft>
                <a:spcPct val="0"/>
              </a:spcAft>
              <a:buClrTx/>
              <a:buSzTx/>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Bank Customer Churn dataset consists of 7 tables and 14 columns, providing a comprehensive view of customer demographics, financial behavior, account activity, and exit patterns across a European bank. The dataset contains 10,000 customer records spanning three countries like France, Germany, and Spain and captures key attributes such as customer age, gender, credit score, account balance, number of products held, tenure with the bank, credit card ownership, activity status, and churn status. These attributes together form the foundation for identifying churn patterns, segmenting customers by risk level, and building an interactive Power BI dashboard to support data-driven retention strategies.</a:t>
            </a:r>
          </a:p>
          <a:p>
            <a:pPr marL="342900"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Tables included in the dataset:</a:t>
            </a:r>
          </a:p>
          <a:p>
            <a:pPr marL="114300" indent="0">
              <a:buNone/>
            </a:pPr>
            <a:r>
              <a:rPr lang="en-US" sz="2000" b="1" dirty="0">
                <a:latin typeface="Times New Roman" panose="02020603050405020304" pitchFamily="18" charset="0"/>
                <a:cs typeface="Times New Roman" panose="02020603050405020304" pitchFamily="18" charset="0"/>
              </a:rPr>
              <a:t>	Consumption</a:t>
            </a:r>
            <a:r>
              <a:rPr lang="en-US" sz="2000" dirty="0">
                <a:latin typeface="Times New Roman" panose="02020603050405020304" pitchFamily="18" charset="0"/>
                <a:cs typeface="Times New Roman" panose="02020603050405020304" pitchFamily="18" charset="0"/>
              </a:rPr>
              <a:t> → Energy usage by country, year, and energy type </a:t>
            </a:r>
          </a:p>
          <a:p>
            <a:pPr marL="114300" indent="0">
              <a:buNone/>
            </a:pPr>
            <a:r>
              <a:rPr lang="en-US" sz="2000" b="1" dirty="0">
                <a:latin typeface="Times New Roman" panose="02020603050405020304" pitchFamily="18" charset="0"/>
                <a:cs typeface="Times New Roman" panose="02020603050405020304" pitchFamily="18" charset="0"/>
              </a:rPr>
              <a:t>	Production</a:t>
            </a:r>
            <a:r>
              <a:rPr lang="en-US" sz="2000" dirty="0">
                <a:latin typeface="Times New Roman" panose="02020603050405020304" pitchFamily="18" charset="0"/>
                <a:cs typeface="Times New Roman" panose="02020603050405020304" pitchFamily="18" charset="0"/>
              </a:rPr>
              <a:t> → Energy production by country, year, and source </a:t>
            </a:r>
          </a:p>
          <a:p>
            <a:pPr marL="114300" indent="0">
              <a:buNone/>
            </a:pPr>
            <a:r>
              <a:rPr lang="en-US" sz="2000" b="1" dirty="0">
                <a:latin typeface="Times New Roman" panose="02020603050405020304" pitchFamily="18" charset="0"/>
                <a:cs typeface="Times New Roman" panose="02020603050405020304" pitchFamily="18" charset="0"/>
              </a:rPr>
              <a:t>	Emission_3</a:t>
            </a:r>
            <a:r>
              <a:rPr lang="en-US" sz="2000" dirty="0">
                <a:latin typeface="Times New Roman" panose="02020603050405020304" pitchFamily="18" charset="0"/>
                <a:cs typeface="Times New Roman" panose="02020603050405020304" pitchFamily="18" charset="0"/>
              </a:rPr>
              <a:t> → Carbon emissions and per capita emissions </a:t>
            </a:r>
          </a:p>
          <a:p>
            <a:pPr marL="114300" indent="0">
              <a:buNone/>
            </a:pPr>
            <a:r>
              <a:rPr lang="en-US" sz="2000" b="1" dirty="0">
                <a:latin typeface="Times New Roman" panose="02020603050405020304" pitchFamily="18" charset="0"/>
                <a:cs typeface="Times New Roman" panose="02020603050405020304" pitchFamily="18" charset="0"/>
              </a:rPr>
              <a:t>	GDP_3</a:t>
            </a:r>
            <a:r>
              <a:rPr lang="en-US" sz="2000" dirty="0">
                <a:latin typeface="Times New Roman" panose="02020603050405020304" pitchFamily="18" charset="0"/>
                <a:cs typeface="Times New Roman" panose="02020603050405020304" pitchFamily="18" charset="0"/>
              </a:rPr>
              <a:t> → Country-wise GDP values over the years </a:t>
            </a:r>
          </a:p>
          <a:p>
            <a:pPr marL="114300" indent="0">
              <a:buNone/>
            </a:pPr>
            <a:r>
              <a:rPr lang="en-US" sz="2000" b="1" dirty="0">
                <a:latin typeface="Times New Roman" panose="02020603050405020304" pitchFamily="18" charset="0"/>
                <a:cs typeface="Times New Roman" panose="02020603050405020304" pitchFamily="18" charset="0"/>
              </a:rPr>
              <a:t>	Population</a:t>
            </a:r>
            <a:r>
              <a:rPr lang="en-US" sz="2000" dirty="0">
                <a:latin typeface="Times New Roman" panose="02020603050405020304" pitchFamily="18" charset="0"/>
                <a:cs typeface="Times New Roman" panose="02020603050405020304" pitchFamily="18" charset="0"/>
              </a:rPr>
              <a:t> → Population values for each country and year </a:t>
            </a:r>
          </a:p>
          <a:p>
            <a:pPr marL="114300" indent="0">
              <a:buNone/>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Country</a:t>
            </a:r>
            <a:r>
              <a:rPr lang="en-US" sz="2000" dirty="0">
                <a:latin typeface="Times New Roman" panose="02020603050405020304" pitchFamily="18" charset="0"/>
                <a:cs typeface="Times New Roman" panose="02020603050405020304" pitchFamily="18" charset="0"/>
              </a:rPr>
              <a:t> → Countries and Country codes</a:t>
            </a:r>
          </a:p>
        </p:txBody>
      </p:sp>
    </p:spTree>
    <p:extLst>
      <p:ext uri="{BB962C8B-B14F-4D97-AF65-F5344CB8AC3E}">
        <p14:creationId xmlns:p14="http://schemas.microsoft.com/office/powerpoint/2010/main" val="399102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307258" y="104429"/>
            <a:ext cx="2907890" cy="909136"/>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Objectives:</a:t>
            </a:r>
          </a:p>
        </p:txBody>
      </p:sp>
      <p:sp>
        <p:nvSpPr>
          <p:cNvPr id="7" name="Rectangle 2">
            <a:extLst>
              <a:ext uri="{FF2B5EF4-FFF2-40B4-BE49-F238E27FC236}">
                <a16:creationId xmlns:a16="http://schemas.microsoft.com/office/drawing/2014/main" id="{03899DE1-8D38-27E8-AD38-042F2269CD5C}"/>
              </a:ext>
            </a:extLst>
          </p:cNvPr>
          <p:cNvSpPr>
            <a:spLocks noGrp="1" noChangeArrowheads="1"/>
          </p:cNvSpPr>
          <p:nvPr>
            <p:ph type="body" idx="1"/>
          </p:nvPr>
        </p:nvSpPr>
        <p:spPr bwMode="auto">
          <a:xfrm>
            <a:off x="786581" y="856311"/>
            <a:ext cx="10343536" cy="5808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sz="2400" dirty="0">
                <a:latin typeface="Times New Roman" panose="02020603050405020304" pitchFamily="18" charset="0"/>
                <a:cs typeface="Times New Roman" panose="02020603050405020304" pitchFamily="18" charset="0"/>
              </a:rPr>
              <a:t>The objective of this project is to analyze </a:t>
            </a:r>
            <a:r>
              <a:rPr lang="en-US" sz="2400" b="1" dirty="0">
                <a:latin typeface="Times New Roman" panose="02020603050405020304" pitchFamily="18" charset="0"/>
                <a:cs typeface="Times New Roman" panose="02020603050405020304" pitchFamily="18" charset="0"/>
              </a:rPr>
              <a:t>global energy consumption, production, emissions, GDP, and population data</a:t>
            </a:r>
            <a:r>
              <a:rPr lang="en-US" sz="2400" dirty="0">
                <a:latin typeface="Times New Roman" panose="02020603050405020304" pitchFamily="18" charset="0"/>
                <a:cs typeface="Times New Roman" panose="02020603050405020304" pitchFamily="18" charset="0"/>
              </a:rPr>
              <a:t> to identify meaningful trends, country-wise patterns, and relationships between energy usage, economic growth, and environmental impact.</a:t>
            </a:r>
          </a:p>
          <a:p>
            <a:pPr marL="11430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project aims to use SQL to answer real-world analytical questions such as:</a:t>
            </a:r>
          </a:p>
          <a:p>
            <a:r>
              <a:rPr lang="en-US" sz="2400" dirty="0">
                <a:latin typeface="Times New Roman" panose="02020603050405020304" pitchFamily="18" charset="0"/>
                <a:cs typeface="Times New Roman" panose="02020603050405020304" pitchFamily="18" charset="0"/>
              </a:rPr>
              <a:t>how energy consumption varies across countries, </a:t>
            </a:r>
          </a:p>
          <a:p>
            <a:r>
              <a:rPr lang="en-US" sz="2400" dirty="0">
                <a:latin typeface="Times New Roman" panose="02020603050405020304" pitchFamily="18" charset="0"/>
                <a:cs typeface="Times New Roman" panose="02020603050405020304" pitchFamily="18" charset="0"/>
              </a:rPr>
              <a:t>how emissions are affected by population and economic growth, </a:t>
            </a:r>
          </a:p>
          <a:p>
            <a:r>
              <a:rPr lang="en-US" sz="2400" dirty="0">
                <a:latin typeface="Times New Roman" panose="02020603050405020304" pitchFamily="18" charset="0"/>
                <a:cs typeface="Times New Roman" panose="02020603050405020304" pitchFamily="18" charset="0"/>
              </a:rPr>
              <a:t>which countries contribute most to global emissions, </a:t>
            </a:r>
          </a:p>
          <a:p>
            <a:r>
              <a:rPr lang="en-US" sz="2400" dirty="0">
                <a:latin typeface="Times New Roman" panose="02020603050405020304" pitchFamily="18" charset="0"/>
                <a:cs typeface="Times New Roman" panose="02020603050405020304" pitchFamily="18" charset="0"/>
              </a:rPr>
              <a:t>and how energy-related indicators change over time. </a:t>
            </a:r>
          </a:p>
          <a:p>
            <a:r>
              <a:rPr lang="en-US" sz="2400" dirty="0">
                <a:latin typeface="Times New Roman" panose="02020603050405020304" pitchFamily="18" charset="0"/>
                <a:cs typeface="Times New Roman" panose="02020603050405020304" pitchFamily="18" charset="0"/>
              </a:rPr>
              <a:t>The project also helps in strengthening practical SQL skills such as </a:t>
            </a:r>
            <a:r>
              <a:rPr lang="en-US" sz="2400" b="1" dirty="0">
                <a:latin typeface="Times New Roman" panose="02020603050405020304" pitchFamily="18" charset="0"/>
                <a:cs typeface="Times New Roman" panose="02020603050405020304" pitchFamily="18" charset="0"/>
              </a:rPr>
              <a:t>joins, aggregations, subqueries, Common Table Expressions (CTEs), and window functions</a:t>
            </a:r>
            <a:r>
              <a:rPr lang="en-US" sz="2400" dirty="0">
                <a:latin typeface="Times New Roman" panose="02020603050405020304" pitchFamily="18" charset="0"/>
                <a:cs typeface="Times New Roman" panose="02020603050405020304" pitchFamily="18" charset="0"/>
              </a:rPr>
              <a:t>, which are commonly used in Data Analyst roles.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2316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838200" y="365125"/>
            <a:ext cx="3045542" cy="1325563"/>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sp>
        <p:nvSpPr>
          <p:cNvPr id="4" name="Text Placeholder 3">
            <a:extLst>
              <a:ext uri="{FF2B5EF4-FFF2-40B4-BE49-F238E27FC236}">
                <a16:creationId xmlns:a16="http://schemas.microsoft.com/office/drawing/2014/main" id="{60F858F1-D20E-DCEA-2DFC-AB2B49866B19}"/>
              </a:ext>
            </a:extLst>
          </p:cNvPr>
          <p:cNvSpPr>
            <a:spLocks noGrp="1"/>
          </p:cNvSpPr>
          <p:nvPr>
            <p:ph type="body" idx="1"/>
          </p:nvPr>
        </p:nvSpPr>
        <p:spPr>
          <a:xfrm>
            <a:off x="838200" y="1825625"/>
            <a:ext cx="10311581" cy="3149498"/>
          </a:xfrm>
        </p:spPr>
        <p:txBody>
          <a:bodyPr>
            <a:normAutofit/>
          </a:bodyPr>
          <a:lstStyle/>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MySQL</a:t>
            </a:r>
            <a:r>
              <a:rPr lang="en-IN" sz="2400" dirty="0">
                <a:latin typeface="Times New Roman" panose="02020603050405020304" pitchFamily="18" charset="0"/>
                <a:cs typeface="Times New Roman" panose="02020603050405020304" pitchFamily="18" charset="0"/>
              </a:rPr>
              <a:t> – For data analysis and query execution </a:t>
            </a:r>
          </a:p>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MySQL Workbench</a:t>
            </a:r>
            <a:r>
              <a:rPr lang="en-IN" sz="2400" dirty="0">
                <a:latin typeface="Times New Roman" panose="02020603050405020304" pitchFamily="18" charset="0"/>
                <a:cs typeface="Times New Roman" panose="02020603050405020304" pitchFamily="18" charset="0"/>
              </a:rPr>
              <a:t> – For writing and running SQL queries </a:t>
            </a:r>
          </a:p>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SQL</a:t>
            </a:r>
            <a:r>
              <a:rPr lang="en-IN" sz="2400" dirty="0">
                <a:latin typeface="Times New Roman" panose="02020603050405020304" pitchFamily="18" charset="0"/>
                <a:cs typeface="Times New Roman" panose="02020603050405020304" pitchFamily="18" charset="0"/>
              </a:rPr>
              <a:t> – For joins, aggregations, subqueries, CTEs, and window functions </a:t>
            </a:r>
          </a:p>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Excel / CSV</a:t>
            </a:r>
            <a:r>
              <a:rPr lang="en-IN" sz="2400" dirty="0">
                <a:latin typeface="Times New Roman" panose="02020603050405020304" pitchFamily="18" charset="0"/>
                <a:cs typeface="Times New Roman" panose="02020603050405020304" pitchFamily="18" charset="0"/>
              </a:rPr>
              <a:t> – For dataset storage and import </a:t>
            </a:r>
          </a:p>
          <a:p>
            <a:pPr>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Relational Database Concepts</a:t>
            </a:r>
            <a:r>
              <a:rPr lang="en-IN" sz="2400" dirty="0">
                <a:latin typeface="Times New Roman" panose="02020603050405020304" pitchFamily="18" charset="0"/>
                <a:cs typeface="Times New Roman" panose="02020603050405020304" pitchFamily="18" charset="0"/>
              </a:rPr>
              <a:t> – For handling structured multi-table analysis</a:t>
            </a: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4322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B0041-6786-98A5-A78C-5FFC636E6C5B}"/>
              </a:ext>
            </a:extLst>
          </p:cNvPr>
          <p:cNvSpPr>
            <a:spLocks noGrp="1"/>
          </p:cNvSpPr>
          <p:nvPr>
            <p:ph type="title"/>
          </p:nvPr>
        </p:nvSpPr>
        <p:spPr>
          <a:xfrm>
            <a:off x="839788" y="457200"/>
            <a:ext cx="5177554" cy="1204452"/>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General &amp; Comparative Analysis</a:t>
            </a:r>
          </a:p>
        </p:txBody>
      </p:sp>
      <p:sp>
        <p:nvSpPr>
          <p:cNvPr id="6" name="Text Placeholder 5">
            <a:extLst>
              <a:ext uri="{FF2B5EF4-FFF2-40B4-BE49-F238E27FC236}">
                <a16:creationId xmlns:a16="http://schemas.microsoft.com/office/drawing/2014/main" id="{06A96599-6086-1C44-7085-5C25EB66DAEF}"/>
              </a:ext>
            </a:extLst>
          </p:cNvPr>
          <p:cNvSpPr>
            <a:spLocks noGrp="1"/>
          </p:cNvSpPr>
          <p:nvPr>
            <p:ph type="body" idx="1"/>
          </p:nvPr>
        </p:nvSpPr>
        <p:spPr>
          <a:xfrm>
            <a:off x="838200" y="1823168"/>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What is the total emission per country for the most recent year available?</a:t>
            </a:r>
          </a:p>
        </p:txBody>
      </p:sp>
      <p:pic>
        <p:nvPicPr>
          <p:cNvPr id="4" name="Picture 3">
            <a:extLst>
              <a:ext uri="{FF2B5EF4-FFF2-40B4-BE49-F238E27FC236}">
                <a16:creationId xmlns:a16="http://schemas.microsoft.com/office/drawing/2014/main" id="{B794BBAE-B161-3921-7603-B6918C51E6A5}"/>
              </a:ext>
            </a:extLst>
          </p:cNvPr>
          <p:cNvPicPr>
            <a:picLocks noChangeAspect="1"/>
          </p:cNvPicPr>
          <p:nvPr/>
        </p:nvPicPr>
        <p:blipFill>
          <a:blip r:embed="rId2"/>
          <a:stretch>
            <a:fillRect/>
          </a:stretch>
        </p:blipFill>
        <p:spPr>
          <a:xfrm>
            <a:off x="584161" y="2856349"/>
            <a:ext cx="5687219" cy="1495634"/>
          </a:xfrm>
          <a:prstGeom prst="rect">
            <a:avLst/>
          </a:prstGeom>
        </p:spPr>
      </p:pic>
      <p:pic>
        <p:nvPicPr>
          <p:cNvPr id="8" name="Picture 7">
            <a:extLst>
              <a:ext uri="{FF2B5EF4-FFF2-40B4-BE49-F238E27FC236}">
                <a16:creationId xmlns:a16="http://schemas.microsoft.com/office/drawing/2014/main" id="{EBC8C368-DEE3-FA04-C738-4C3106D37BDF}"/>
              </a:ext>
            </a:extLst>
          </p:cNvPr>
          <p:cNvPicPr>
            <a:picLocks noChangeAspect="1"/>
          </p:cNvPicPr>
          <p:nvPr/>
        </p:nvPicPr>
        <p:blipFill>
          <a:blip r:embed="rId3"/>
          <a:stretch>
            <a:fillRect/>
          </a:stretch>
        </p:blipFill>
        <p:spPr>
          <a:xfrm>
            <a:off x="7112965" y="457200"/>
            <a:ext cx="3549927" cy="3225171"/>
          </a:xfrm>
          <a:prstGeom prst="rect">
            <a:avLst/>
          </a:prstGeom>
        </p:spPr>
      </p:pic>
      <p:sp>
        <p:nvSpPr>
          <p:cNvPr id="15" name="Rectangle 4">
            <a:extLst>
              <a:ext uri="{FF2B5EF4-FFF2-40B4-BE49-F238E27FC236}">
                <a16:creationId xmlns:a16="http://schemas.microsoft.com/office/drawing/2014/main" id="{5D96F2A8-2960-E79F-479D-B73048491D75}"/>
              </a:ext>
            </a:extLst>
          </p:cNvPr>
          <p:cNvSpPr>
            <a:spLocks noChangeArrowheads="1"/>
          </p:cNvSpPr>
          <p:nvPr/>
        </p:nvSpPr>
        <p:spPr bwMode="auto">
          <a:xfrm>
            <a:off x="747252" y="4527149"/>
            <a:ext cx="947829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query shows the total emissions generated by each country in the most recent year available in the dataset.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results indicate that emission levels vary significantly across countries, with some nations contributing much more than others. </a:t>
            </a:r>
          </a:p>
        </p:txBody>
      </p:sp>
    </p:spTree>
    <p:extLst>
      <p:ext uri="{BB962C8B-B14F-4D97-AF65-F5344CB8AC3E}">
        <p14:creationId xmlns:p14="http://schemas.microsoft.com/office/powerpoint/2010/main" val="3268474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103E3-BEE1-0BFD-7E6B-BD625B7C6627}"/>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63C9865F-BD73-51B9-4BA5-A503759FED23}"/>
              </a:ext>
            </a:extLst>
          </p:cNvPr>
          <p:cNvSpPr>
            <a:spLocks noGrp="1"/>
          </p:cNvSpPr>
          <p:nvPr>
            <p:ph type="body" idx="1"/>
          </p:nvPr>
        </p:nvSpPr>
        <p:spPr>
          <a:xfrm>
            <a:off x="916858" y="790828"/>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Which energy types contribute most to emissions across all countries?</a:t>
            </a:r>
          </a:p>
        </p:txBody>
      </p:sp>
      <p:pic>
        <p:nvPicPr>
          <p:cNvPr id="9" name="Picture 8">
            <a:extLst>
              <a:ext uri="{FF2B5EF4-FFF2-40B4-BE49-F238E27FC236}">
                <a16:creationId xmlns:a16="http://schemas.microsoft.com/office/drawing/2014/main" id="{7F8DF894-076D-8809-564C-F95457771A15}"/>
              </a:ext>
            </a:extLst>
          </p:cNvPr>
          <p:cNvPicPr>
            <a:picLocks noChangeAspect="1"/>
          </p:cNvPicPr>
          <p:nvPr/>
        </p:nvPicPr>
        <p:blipFill>
          <a:blip r:embed="rId2"/>
          <a:stretch>
            <a:fillRect/>
          </a:stretch>
        </p:blipFill>
        <p:spPr>
          <a:xfrm>
            <a:off x="868102" y="1878350"/>
            <a:ext cx="6052784" cy="963173"/>
          </a:xfrm>
          <a:prstGeom prst="rect">
            <a:avLst/>
          </a:prstGeom>
        </p:spPr>
      </p:pic>
      <p:pic>
        <p:nvPicPr>
          <p:cNvPr id="11" name="Picture 10">
            <a:extLst>
              <a:ext uri="{FF2B5EF4-FFF2-40B4-BE49-F238E27FC236}">
                <a16:creationId xmlns:a16="http://schemas.microsoft.com/office/drawing/2014/main" id="{FF7B3EEC-5D80-825F-B0D6-41799FF3C5A7}"/>
              </a:ext>
            </a:extLst>
          </p:cNvPr>
          <p:cNvPicPr>
            <a:picLocks noChangeAspect="1"/>
          </p:cNvPicPr>
          <p:nvPr/>
        </p:nvPicPr>
        <p:blipFill>
          <a:blip r:embed="rId3"/>
          <a:stretch>
            <a:fillRect/>
          </a:stretch>
        </p:blipFill>
        <p:spPr>
          <a:xfrm>
            <a:off x="6920886" y="1419337"/>
            <a:ext cx="4690479" cy="2264999"/>
          </a:xfrm>
          <a:prstGeom prst="rect">
            <a:avLst/>
          </a:prstGeom>
        </p:spPr>
      </p:pic>
      <p:sp>
        <p:nvSpPr>
          <p:cNvPr id="12" name="Rectangle 1">
            <a:extLst>
              <a:ext uri="{FF2B5EF4-FFF2-40B4-BE49-F238E27FC236}">
                <a16:creationId xmlns:a16="http://schemas.microsoft.com/office/drawing/2014/main" id="{740EDCEF-66FA-A394-9B5C-189A79A60336}"/>
              </a:ext>
            </a:extLst>
          </p:cNvPr>
          <p:cNvSpPr>
            <a:spLocks noChangeArrowheads="1"/>
          </p:cNvSpPr>
          <p:nvPr/>
        </p:nvSpPr>
        <p:spPr bwMode="auto">
          <a:xfrm>
            <a:off x="619432" y="3913842"/>
            <a:ext cx="1047135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results show that CO₂ emissions are the highest overall, followed by coal and coke, petroleum, and natural gas.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indicates that fossil fuels, especially coal and petroleum, are major contributors to total emissions. </a:t>
            </a:r>
          </a:p>
        </p:txBody>
      </p:sp>
    </p:spTree>
    <p:extLst>
      <p:ext uri="{BB962C8B-B14F-4D97-AF65-F5344CB8AC3E}">
        <p14:creationId xmlns:p14="http://schemas.microsoft.com/office/powerpoint/2010/main" val="3719258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9A6F5-518E-44F0-5F3F-3E39FC5BB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491C5-027D-91A2-5EBF-333ACB412318}"/>
              </a:ext>
            </a:extLst>
          </p:cNvPr>
          <p:cNvSpPr>
            <a:spLocks noGrp="1"/>
          </p:cNvSpPr>
          <p:nvPr>
            <p:ph type="title"/>
          </p:nvPr>
        </p:nvSpPr>
        <p:spPr>
          <a:xfrm>
            <a:off x="841376" y="297367"/>
            <a:ext cx="5177554" cy="1204452"/>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Trend Analysis</a:t>
            </a:r>
            <a:br>
              <a:rPr lang="en-IN" sz="4000" b="1" dirty="0">
                <a:solidFill>
                  <a:schemeClr val="tx1"/>
                </a:solidFill>
                <a:latin typeface="Times New Roman" panose="02020603050405020304" pitchFamily="18" charset="0"/>
                <a:cs typeface="Times New Roman" panose="02020603050405020304" pitchFamily="18" charset="0"/>
              </a:rPr>
            </a:br>
            <a:r>
              <a:rPr lang="en-IN" sz="4000" b="1" dirty="0">
                <a:solidFill>
                  <a:schemeClr val="tx1"/>
                </a:solidFill>
                <a:latin typeface="Times New Roman" panose="02020603050405020304" pitchFamily="18" charset="0"/>
                <a:cs typeface="Times New Roman" panose="02020603050405020304" pitchFamily="18" charset="0"/>
              </a:rPr>
              <a:t>Overtime</a:t>
            </a:r>
          </a:p>
        </p:txBody>
      </p:sp>
      <p:sp>
        <p:nvSpPr>
          <p:cNvPr id="6" name="Text Placeholder 5">
            <a:extLst>
              <a:ext uri="{FF2B5EF4-FFF2-40B4-BE49-F238E27FC236}">
                <a16:creationId xmlns:a16="http://schemas.microsoft.com/office/drawing/2014/main" id="{D80BF11A-A56C-F08F-B91C-CA5C275A0553}"/>
              </a:ext>
            </a:extLst>
          </p:cNvPr>
          <p:cNvSpPr>
            <a:spLocks noGrp="1"/>
          </p:cNvSpPr>
          <p:nvPr>
            <p:ph type="body" idx="1"/>
          </p:nvPr>
        </p:nvSpPr>
        <p:spPr>
          <a:xfrm>
            <a:off x="840582" y="1501819"/>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How have global emissions changed year over year?</a:t>
            </a:r>
          </a:p>
        </p:txBody>
      </p:sp>
      <p:sp>
        <p:nvSpPr>
          <p:cNvPr id="15" name="Rectangle 4">
            <a:extLst>
              <a:ext uri="{FF2B5EF4-FFF2-40B4-BE49-F238E27FC236}">
                <a16:creationId xmlns:a16="http://schemas.microsoft.com/office/drawing/2014/main" id="{914568EB-F6B8-746A-A24E-1FDA3661DB51}"/>
              </a:ext>
            </a:extLst>
          </p:cNvPr>
          <p:cNvSpPr>
            <a:spLocks noChangeArrowheads="1"/>
          </p:cNvSpPr>
          <p:nvPr/>
        </p:nvSpPr>
        <p:spPr bwMode="auto">
          <a:xfrm>
            <a:off x="747252" y="4250151"/>
            <a:ext cx="947829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Global emissions increased from 67,852 in 2020 to 74,161 in 2023, showing an overall upward trend across the years.</a:t>
            </a:r>
          </a:p>
          <a:p>
            <a:pPr marL="285750" lvl="0" indent="-285750" eaLnBrk="0" fontAlgn="base" hangingPunct="0">
              <a:spcBef>
                <a:spcPct val="0"/>
              </a:spcBef>
              <a:spcAft>
                <a:spcPct val="0"/>
              </a:spcAft>
              <a:buClrTx/>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Global emissions increased from 67,852 in 2020 to 74,161 in 2023, showing an overall upward trend across the years.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6FC5D1F-13B5-5AD8-400A-DA8A59A9A440}"/>
              </a:ext>
            </a:extLst>
          </p:cNvPr>
          <p:cNvPicPr>
            <a:picLocks noChangeAspect="1"/>
          </p:cNvPicPr>
          <p:nvPr/>
        </p:nvPicPr>
        <p:blipFill>
          <a:blip r:embed="rId2"/>
          <a:stretch>
            <a:fillRect/>
          </a:stretch>
        </p:blipFill>
        <p:spPr>
          <a:xfrm>
            <a:off x="840582" y="2406696"/>
            <a:ext cx="6027174" cy="1970878"/>
          </a:xfrm>
          <a:prstGeom prst="rect">
            <a:avLst/>
          </a:prstGeom>
        </p:spPr>
      </p:pic>
      <p:pic>
        <p:nvPicPr>
          <p:cNvPr id="9" name="Picture 8">
            <a:extLst>
              <a:ext uri="{FF2B5EF4-FFF2-40B4-BE49-F238E27FC236}">
                <a16:creationId xmlns:a16="http://schemas.microsoft.com/office/drawing/2014/main" id="{093A8F00-99F5-BE75-4317-872E053D95D7}"/>
              </a:ext>
            </a:extLst>
          </p:cNvPr>
          <p:cNvPicPr>
            <a:picLocks noChangeAspect="1"/>
          </p:cNvPicPr>
          <p:nvPr/>
        </p:nvPicPr>
        <p:blipFill>
          <a:blip r:embed="rId3"/>
          <a:stretch>
            <a:fillRect/>
          </a:stretch>
        </p:blipFill>
        <p:spPr>
          <a:xfrm>
            <a:off x="7035795" y="723160"/>
            <a:ext cx="4120547" cy="2324839"/>
          </a:xfrm>
          <a:prstGeom prst="rect">
            <a:avLst/>
          </a:prstGeom>
        </p:spPr>
      </p:pic>
    </p:spTree>
    <p:extLst>
      <p:ext uri="{BB962C8B-B14F-4D97-AF65-F5344CB8AC3E}">
        <p14:creationId xmlns:p14="http://schemas.microsoft.com/office/powerpoint/2010/main" val="1606788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8DE29-35F9-5788-53D4-E6011B5C11C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87857897-8DF5-8156-28C6-919A194D8903}"/>
              </a:ext>
            </a:extLst>
          </p:cNvPr>
          <p:cNvSpPr>
            <a:spLocks noGrp="1"/>
          </p:cNvSpPr>
          <p:nvPr>
            <p:ph type="body" idx="1"/>
          </p:nvPr>
        </p:nvSpPr>
        <p:spPr>
          <a:xfrm>
            <a:off x="916858" y="615309"/>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How has population growth affected total emissions in each country?</a:t>
            </a:r>
          </a:p>
        </p:txBody>
      </p:sp>
      <p:sp>
        <p:nvSpPr>
          <p:cNvPr id="12" name="Rectangle 1">
            <a:extLst>
              <a:ext uri="{FF2B5EF4-FFF2-40B4-BE49-F238E27FC236}">
                <a16:creationId xmlns:a16="http://schemas.microsoft.com/office/drawing/2014/main" id="{7AF20598-0034-2FF7-D59B-0CECE45F5E6C}"/>
              </a:ext>
            </a:extLst>
          </p:cNvPr>
          <p:cNvSpPr>
            <a:spLocks noChangeArrowheads="1"/>
          </p:cNvSpPr>
          <p:nvPr/>
        </p:nvSpPr>
        <p:spPr bwMode="auto">
          <a:xfrm>
            <a:off x="782657" y="4034471"/>
            <a:ext cx="1048118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results show </a:t>
            </a:r>
            <a:r>
              <a:rPr lang="en-US" sz="1800" b="1" dirty="0">
                <a:latin typeface="Times New Roman" panose="02020603050405020304" pitchFamily="18" charset="0"/>
                <a:cs typeface="Times New Roman" panose="02020603050405020304" pitchFamily="18" charset="0"/>
              </a:rPr>
              <a:t>country-wise population and total emissions over the years</a:t>
            </a:r>
            <a:r>
              <a:rPr lang="en-US" sz="1800" dirty="0">
                <a:latin typeface="Times New Roman" panose="02020603050405020304" pitchFamily="18" charset="0"/>
                <a:cs typeface="Times New Roman" panose="02020603050405020304" pitchFamily="18" charset="0"/>
              </a:rPr>
              <a:t>, making it easier to compare how emissions change alongside population growth.</a:t>
            </a:r>
          </a:p>
          <a:p>
            <a:pPr marL="285750" lvl="0" indent="-285750" eaLnBrk="0" fontAlgn="base" hangingPunct="0">
              <a:spcBef>
                <a:spcPct val="0"/>
              </a:spcBef>
              <a:spcAft>
                <a:spcPct val="0"/>
              </a:spcAft>
              <a:buClrTx/>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 some countries, </a:t>
            </a:r>
            <a:r>
              <a:rPr lang="en-US" sz="1800" b="1" dirty="0">
                <a:latin typeface="Times New Roman" panose="02020603050405020304" pitchFamily="18" charset="0"/>
                <a:cs typeface="Times New Roman" panose="02020603050405020304" pitchFamily="18" charset="0"/>
              </a:rPr>
              <a:t>emissions rise as population increases</a:t>
            </a:r>
            <a:r>
              <a:rPr lang="en-US" sz="1800" dirty="0">
                <a:latin typeface="Times New Roman" panose="02020603050405020304" pitchFamily="18" charset="0"/>
                <a:cs typeface="Times New Roman" panose="02020603050405020304" pitchFamily="18" charset="0"/>
              </a:rPr>
              <a:t>, while in others the trend is less direct, suggesting that additional factors also influence emissions.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D9C21FA-E890-A9B4-B2F0-5B567DCC6390}"/>
              </a:ext>
            </a:extLst>
          </p:cNvPr>
          <p:cNvPicPr>
            <a:picLocks noChangeAspect="1"/>
          </p:cNvPicPr>
          <p:nvPr/>
        </p:nvPicPr>
        <p:blipFill>
          <a:blip r:embed="rId2"/>
          <a:stretch>
            <a:fillRect/>
          </a:stretch>
        </p:blipFill>
        <p:spPr>
          <a:xfrm>
            <a:off x="802322" y="1648844"/>
            <a:ext cx="5572903" cy="2210108"/>
          </a:xfrm>
          <a:prstGeom prst="rect">
            <a:avLst/>
          </a:prstGeom>
        </p:spPr>
      </p:pic>
      <p:pic>
        <p:nvPicPr>
          <p:cNvPr id="5" name="Picture 4">
            <a:extLst>
              <a:ext uri="{FF2B5EF4-FFF2-40B4-BE49-F238E27FC236}">
                <a16:creationId xmlns:a16="http://schemas.microsoft.com/office/drawing/2014/main" id="{3F3A7B6D-9092-798B-3080-543423F33563}"/>
              </a:ext>
            </a:extLst>
          </p:cNvPr>
          <p:cNvPicPr>
            <a:picLocks noChangeAspect="1"/>
          </p:cNvPicPr>
          <p:nvPr/>
        </p:nvPicPr>
        <p:blipFill>
          <a:blip r:embed="rId3"/>
          <a:stretch>
            <a:fillRect/>
          </a:stretch>
        </p:blipFill>
        <p:spPr>
          <a:xfrm>
            <a:off x="7477199" y="790828"/>
            <a:ext cx="3353268" cy="2848373"/>
          </a:xfrm>
          <a:prstGeom prst="rect">
            <a:avLst/>
          </a:prstGeom>
        </p:spPr>
      </p:pic>
    </p:spTree>
    <p:extLst>
      <p:ext uri="{BB962C8B-B14F-4D97-AF65-F5344CB8AC3E}">
        <p14:creationId xmlns:p14="http://schemas.microsoft.com/office/powerpoint/2010/main" val="2822472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B1A40-4D69-FA66-3174-4EFDD4DE44B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282031AE-50B9-4C86-60D7-394D86F69F8C}"/>
              </a:ext>
            </a:extLst>
          </p:cNvPr>
          <p:cNvSpPr>
            <a:spLocks noGrp="1"/>
          </p:cNvSpPr>
          <p:nvPr>
            <p:ph type="body" idx="1"/>
          </p:nvPr>
        </p:nvSpPr>
        <p:spPr>
          <a:xfrm>
            <a:off x="916858" y="357938"/>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Has energy consumption increased or decreased over the years for major economies?</a:t>
            </a:r>
          </a:p>
        </p:txBody>
      </p:sp>
      <p:sp>
        <p:nvSpPr>
          <p:cNvPr id="12" name="Rectangle 1">
            <a:extLst>
              <a:ext uri="{FF2B5EF4-FFF2-40B4-BE49-F238E27FC236}">
                <a16:creationId xmlns:a16="http://schemas.microsoft.com/office/drawing/2014/main" id="{01E055ED-C932-8C07-3C7A-75DEF276A595}"/>
              </a:ext>
            </a:extLst>
          </p:cNvPr>
          <p:cNvSpPr>
            <a:spLocks noChangeArrowheads="1"/>
          </p:cNvSpPr>
          <p:nvPr/>
        </p:nvSpPr>
        <p:spPr bwMode="auto">
          <a:xfrm>
            <a:off x="793955" y="4222061"/>
            <a:ext cx="1048118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results compare GDP and energy consumption by country and year, while also showing the previous year’s consumption to identify consumption trends over time.</a:t>
            </a:r>
          </a:p>
          <a:p>
            <a:pPr marL="285750" lvl="0" indent="-285750" eaLnBrk="0" fontAlgn="base" hangingPunct="0">
              <a:spcBef>
                <a:spcPct val="0"/>
              </a:spcBef>
              <a:spcAft>
                <a:spcPct val="0"/>
              </a:spcAft>
              <a:buClrTx/>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Major economies such as China and the United States consistently show high energy consumption, indicating a strong relationship between economic size and energy demand.</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2F68BFF-FCBC-29FA-EC69-FD964BBA7A8B}"/>
              </a:ext>
            </a:extLst>
          </p:cNvPr>
          <p:cNvPicPr>
            <a:picLocks noChangeAspect="1"/>
          </p:cNvPicPr>
          <p:nvPr/>
        </p:nvPicPr>
        <p:blipFill>
          <a:blip r:embed="rId2"/>
          <a:stretch>
            <a:fillRect/>
          </a:stretch>
        </p:blipFill>
        <p:spPr>
          <a:xfrm>
            <a:off x="916858" y="1251054"/>
            <a:ext cx="5401429" cy="2848373"/>
          </a:xfrm>
          <a:prstGeom prst="rect">
            <a:avLst/>
          </a:prstGeom>
        </p:spPr>
      </p:pic>
      <p:pic>
        <p:nvPicPr>
          <p:cNvPr id="13" name="Picture 12">
            <a:extLst>
              <a:ext uri="{FF2B5EF4-FFF2-40B4-BE49-F238E27FC236}">
                <a16:creationId xmlns:a16="http://schemas.microsoft.com/office/drawing/2014/main" id="{9BD5F2A8-63FB-6609-3E43-B0CC6D691E58}"/>
              </a:ext>
            </a:extLst>
          </p:cNvPr>
          <p:cNvPicPr>
            <a:picLocks noChangeAspect="1"/>
          </p:cNvPicPr>
          <p:nvPr/>
        </p:nvPicPr>
        <p:blipFill>
          <a:blip r:embed="rId3"/>
          <a:stretch>
            <a:fillRect/>
          </a:stretch>
        </p:blipFill>
        <p:spPr>
          <a:xfrm>
            <a:off x="6096000" y="1028365"/>
            <a:ext cx="5906324" cy="2400635"/>
          </a:xfrm>
          <a:prstGeom prst="rect">
            <a:avLst/>
          </a:prstGeom>
        </p:spPr>
      </p:pic>
    </p:spTree>
    <p:extLst>
      <p:ext uri="{BB962C8B-B14F-4D97-AF65-F5344CB8AC3E}">
        <p14:creationId xmlns:p14="http://schemas.microsoft.com/office/powerpoint/2010/main" val="150745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67B4F-9DB7-C232-CF1F-C08E56319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A451E-271D-CF6E-F7B0-F773F7F2AD6C}"/>
              </a:ext>
            </a:extLst>
          </p:cNvPr>
          <p:cNvSpPr>
            <a:spLocks noGrp="1"/>
          </p:cNvSpPr>
          <p:nvPr>
            <p:ph type="title"/>
          </p:nvPr>
        </p:nvSpPr>
        <p:spPr>
          <a:xfrm>
            <a:off x="841376" y="297367"/>
            <a:ext cx="5177554" cy="1204452"/>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Ratio &amp; Per Capita Analysis</a:t>
            </a:r>
          </a:p>
        </p:txBody>
      </p:sp>
      <p:sp>
        <p:nvSpPr>
          <p:cNvPr id="6" name="Text Placeholder 5">
            <a:extLst>
              <a:ext uri="{FF2B5EF4-FFF2-40B4-BE49-F238E27FC236}">
                <a16:creationId xmlns:a16="http://schemas.microsoft.com/office/drawing/2014/main" id="{0F226B3E-D8E5-B4D4-7F9A-A7A59CCF5AA0}"/>
              </a:ext>
            </a:extLst>
          </p:cNvPr>
          <p:cNvSpPr>
            <a:spLocks noGrp="1"/>
          </p:cNvSpPr>
          <p:nvPr>
            <p:ph type="body" idx="1"/>
          </p:nvPr>
        </p:nvSpPr>
        <p:spPr>
          <a:xfrm>
            <a:off x="840582" y="1418707"/>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What is the emission-to-GDP ratio for each country by year?</a:t>
            </a:r>
          </a:p>
        </p:txBody>
      </p:sp>
      <p:sp>
        <p:nvSpPr>
          <p:cNvPr id="15" name="Rectangle 4">
            <a:extLst>
              <a:ext uri="{FF2B5EF4-FFF2-40B4-BE49-F238E27FC236}">
                <a16:creationId xmlns:a16="http://schemas.microsoft.com/office/drawing/2014/main" id="{459B2D92-197B-5462-48B2-D7A7E8806DFD}"/>
              </a:ext>
            </a:extLst>
          </p:cNvPr>
          <p:cNvSpPr>
            <a:spLocks noChangeArrowheads="1"/>
          </p:cNvSpPr>
          <p:nvPr/>
        </p:nvSpPr>
        <p:spPr bwMode="auto">
          <a:xfrm>
            <a:off x="840582" y="4337333"/>
            <a:ext cx="938496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results show that the average yearly change in per capita emissions is 0 for all countries, indicating no variation across the available years in the dataset.</a:t>
            </a:r>
          </a:p>
          <a:p>
            <a:pPr marL="285750" lvl="0" indent="-285750" eaLnBrk="0" fontAlgn="base" hangingPunct="0">
              <a:spcBef>
                <a:spcPct val="0"/>
              </a:spcBef>
              <a:spcAft>
                <a:spcPct val="0"/>
              </a:spcAft>
              <a:buClrTx/>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suggests that the </a:t>
            </a:r>
            <a:r>
              <a:rPr lang="en-US" dirty="0" err="1">
                <a:latin typeface="Times New Roman" panose="02020603050405020304" pitchFamily="18" charset="0"/>
                <a:cs typeface="Times New Roman" panose="02020603050405020304" pitchFamily="18" charset="0"/>
              </a:rPr>
              <a:t>per_capita_emission</a:t>
            </a:r>
            <a:r>
              <a:rPr lang="en-US" sz="1800" dirty="0">
                <a:latin typeface="Times New Roman" panose="02020603050405020304" pitchFamily="18" charset="0"/>
                <a:cs typeface="Times New Roman" panose="02020603050405020304" pitchFamily="18" charset="0"/>
              </a:rPr>
              <a:t> column may contain repeated or constant values, making it unsuitable for meaningful trend analysis.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CA93D55-58A9-D0FD-B326-8426C4B1CB98}"/>
              </a:ext>
            </a:extLst>
          </p:cNvPr>
          <p:cNvPicPr>
            <a:picLocks noChangeAspect="1"/>
          </p:cNvPicPr>
          <p:nvPr/>
        </p:nvPicPr>
        <p:blipFill>
          <a:blip r:embed="rId2"/>
          <a:stretch>
            <a:fillRect/>
          </a:stretch>
        </p:blipFill>
        <p:spPr>
          <a:xfrm>
            <a:off x="840582" y="2244768"/>
            <a:ext cx="4823487" cy="2308324"/>
          </a:xfrm>
          <a:prstGeom prst="rect">
            <a:avLst/>
          </a:prstGeom>
        </p:spPr>
      </p:pic>
      <p:pic>
        <p:nvPicPr>
          <p:cNvPr id="8" name="Picture 7">
            <a:extLst>
              <a:ext uri="{FF2B5EF4-FFF2-40B4-BE49-F238E27FC236}">
                <a16:creationId xmlns:a16="http://schemas.microsoft.com/office/drawing/2014/main" id="{DBC58A65-31A8-7913-1213-8F29CAC24DF7}"/>
              </a:ext>
            </a:extLst>
          </p:cNvPr>
          <p:cNvPicPr>
            <a:picLocks noChangeAspect="1"/>
          </p:cNvPicPr>
          <p:nvPr/>
        </p:nvPicPr>
        <p:blipFill>
          <a:blip r:embed="rId3"/>
          <a:stretch>
            <a:fillRect/>
          </a:stretch>
        </p:blipFill>
        <p:spPr>
          <a:xfrm>
            <a:off x="7578623" y="773249"/>
            <a:ext cx="2934109" cy="3915321"/>
          </a:xfrm>
          <a:prstGeom prst="rect">
            <a:avLst/>
          </a:prstGeom>
        </p:spPr>
      </p:pic>
    </p:spTree>
    <p:extLst>
      <p:ext uri="{BB962C8B-B14F-4D97-AF65-F5344CB8AC3E}">
        <p14:creationId xmlns:p14="http://schemas.microsoft.com/office/powerpoint/2010/main" val="3889958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637A6-9169-5E10-39D9-E5FDF1048566}"/>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CF6B6B75-79A5-4FE8-8D50-10BF7E11BE50}"/>
              </a:ext>
            </a:extLst>
          </p:cNvPr>
          <p:cNvSpPr>
            <a:spLocks noGrp="1"/>
          </p:cNvSpPr>
          <p:nvPr>
            <p:ph type="body" idx="1"/>
          </p:nvPr>
        </p:nvSpPr>
        <p:spPr>
          <a:xfrm>
            <a:off x="916858" y="357938"/>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How does energy production per capita vary across countries?</a:t>
            </a:r>
          </a:p>
        </p:txBody>
      </p:sp>
      <p:sp>
        <p:nvSpPr>
          <p:cNvPr id="12" name="Rectangle 1">
            <a:extLst>
              <a:ext uri="{FF2B5EF4-FFF2-40B4-BE49-F238E27FC236}">
                <a16:creationId xmlns:a16="http://schemas.microsoft.com/office/drawing/2014/main" id="{867EA5D8-A381-928F-ECCC-2BD5AA1864F5}"/>
              </a:ext>
            </a:extLst>
          </p:cNvPr>
          <p:cNvSpPr>
            <a:spLocks noChangeArrowheads="1"/>
          </p:cNvSpPr>
          <p:nvPr/>
        </p:nvSpPr>
        <p:spPr bwMode="auto">
          <a:xfrm>
            <a:off x="793955" y="4222061"/>
            <a:ext cx="1048118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Countries like Qatar, Norway, and Kuwait have the highest energy production per capita, indicating strong energy output relative to their population size.</a:t>
            </a:r>
          </a:p>
          <a:p>
            <a:pPr lvl="0" eaLnBrk="0" fontAlgn="base" hangingPunct="0">
              <a:spcBef>
                <a:spcPct val="0"/>
              </a:spcBef>
              <a:spcAft>
                <a:spcPct val="0"/>
              </a:spcAft>
              <a:buClrTx/>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suggests that resource-rich countries with smaller populations tend to have higher per capita production compared to larger or less resource-dependent nations.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228B632-CB92-7ADC-069A-A7D734C61A89}"/>
              </a:ext>
            </a:extLst>
          </p:cNvPr>
          <p:cNvPicPr>
            <a:picLocks noChangeAspect="1"/>
          </p:cNvPicPr>
          <p:nvPr/>
        </p:nvPicPr>
        <p:blipFill>
          <a:blip r:embed="rId2"/>
          <a:stretch>
            <a:fillRect/>
          </a:stretch>
        </p:blipFill>
        <p:spPr>
          <a:xfrm>
            <a:off x="916858" y="1215954"/>
            <a:ext cx="4751254" cy="2400634"/>
          </a:xfrm>
          <a:prstGeom prst="rect">
            <a:avLst/>
          </a:prstGeom>
        </p:spPr>
      </p:pic>
      <p:pic>
        <p:nvPicPr>
          <p:cNvPr id="8" name="Picture 7">
            <a:extLst>
              <a:ext uri="{FF2B5EF4-FFF2-40B4-BE49-F238E27FC236}">
                <a16:creationId xmlns:a16="http://schemas.microsoft.com/office/drawing/2014/main" id="{74CB6A2A-795C-840F-8BA2-537265DB2C6F}"/>
              </a:ext>
            </a:extLst>
          </p:cNvPr>
          <p:cNvPicPr>
            <a:picLocks noChangeAspect="1"/>
          </p:cNvPicPr>
          <p:nvPr/>
        </p:nvPicPr>
        <p:blipFill>
          <a:blip r:embed="rId3"/>
          <a:stretch>
            <a:fillRect/>
          </a:stretch>
        </p:blipFill>
        <p:spPr>
          <a:xfrm>
            <a:off x="7618563" y="439557"/>
            <a:ext cx="2972215" cy="3953427"/>
          </a:xfrm>
          <a:prstGeom prst="rect">
            <a:avLst/>
          </a:prstGeom>
        </p:spPr>
      </p:pic>
    </p:spTree>
    <p:extLst>
      <p:ext uri="{BB962C8B-B14F-4D97-AF65-F5344CB8AC3E}">
        <p14:creationId xmlns:p14="http://schemas.microsoft.com/office/powerpoint/2010/main" val="3771953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584DE-9B82-678C-DA29-EB24A5A5C4B8}"/>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81363C68-8B46-AD8A-2D49-F7A891BFB725}"/>
              </a:ext>
            </a:extLst>
          </p:cNvPr>
          <p:cNvSpPr>
            <a:spLocks noGrp="1"/>
          </p:cNvSpPr>
          <p:nvPr>
            <p:ph type="body" idx="1"/>
          </p:nvPr>
        </p:nvSpPr>
        <p:spPr>
          <a:xfrm>
            <a:off x="916858" y="357938"/>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Which countries have the highest energy consumption relative to GDP?</a:t>
            </a:r>
          </a:p>
        </p:txBody>
      </p:sp>
      <p:sp>
        <p:nvSpPr>
          <p:cNvPr id="12" name="Rectangle 1">
            <a:extLst>
              <a:ext uri="{FF2B5EF4-FFF2-40B4-BE49-F238E27FC236}">
                <a16:creationId xmlns:a16="http://schemas.microsoft.com/office/drawing/2014/main" id="{EEA5CA34-28E3-03F4-73C9-19B8FF1CE004}"/>
              </a:ext>
            </a:extLst>
          </p:cNvPr>
          <p:cNvSpPr>
            <a:spLocks noChangeArrowheads="1"/>
          </p:cNvSpPr>
          <p:nvPr/>
        </p:nvSpPr>
        <p:spPr bwMode="auto">
          <a:xfrm>
            <a:off x="855406" y="4283432"/>
            <a:ext cx="1048118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Countries such as Trinidad and Tobago, North Korea, and Turkmenistan show the highest energy consumption relative to GDP, indicating higher energy use compared to their economic output.</a:t>
            </a:r>
          </a:p>
          <a:p>
            <a:pPr marL="285750" lvl="0" indent="-285750" eaLnBrk="0" fontAlgn="base" hangingPunct="0">
              <a:spcBef>
                <a:spcPct val="0"/>
              </a:spcBef>
              <a:spcAft>
                <a:spcPct val="0"/>
              </a:spcAft>
              <a:buClrTx/>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suggests that these economies may be more energy-intensive or less energy-efficient than countries with lower consumption-to-GDP ratios.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584C47A-2978-84D8-1920-9EBBAF2D1DF4}"/>
              </a:ext>
            </a:extLst>
          </p:cNvPr>
          <p:cNvPicPr>
            <a:picLocks noChangeAspect="1"/>
          </p:cNvPicPr>
          <p:nvPr/>
        </p:nvPicPr>
        <p:blipFill>
          <a:blip r:embed="rId2"/>
          <a:stretch>
            <a:fillRect/>
          </a:stretch>
        </p:blipFill>
        <p:spPr>
          <a:xfrm>
            <a:off x="993197" y="1215954"/>
            <a:ext cx="4601217" cy="3067478"/>
          </a:xfrm>
          <a:prstGeom prst="rect">
            <a:avLst/>
          </a:prstGeom>
        </p:spPr>
      </p:pic>
      <p:pic>
        <p:nvPicPr>
          <p:cNvPr id="7" name="Picture 6">
            <a:extLst>
              <a:ext uri="{FF2B5EF4-FFF2-40B4-BE49-F238E27FC236}">
                <a16:creationId xmlns:a16="http://schemas.microsoft.com/office/drawing/2014/main" id="{CB044D90-CE62-9D3C-3329-E9D9159BE8C9}"/>
              </a:ext>
            </a:extLst>
          </p:cNvPr>
          <p:cNvPicPr>
            <a:picLocks noChangeAspect="1"/>
          </p:cNvPicPr>
          <p:nvPr/>
        </p:nvPicPr>
        <p:blipFill>
          <a:blip r:embed="rId3"/>
          <a:stretch>
            <a:fillRect/>
          </a:stretch>
        </p:blipFill>
        <p:spPr>
          <a:xfrm>
            <a:off x="5911819" y="1215954"/>
            <a:ext cx="5363323" cy="2438740"/>
          </a:xfrm>
          <a:prstGeom prst="rect">
            <a:avLst/>
          </a:prstGeom>
        </p:spPr>
      </p:pic>
    </p:spTree>
    <p:extLst>
      <p:ext uri="{BB962C8B-B14F-4D97-AF65-F5344CB8AC3E}">
        <p14:creationId xmlns:p14="http://schemas.microsoft.com/office/powerpoint/2010/main" val="1991053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FF658-48EA-5214-0432-910E77C17E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1D24D-65B8-2368-E3F3-0DD81B7B7CE2}"/>
              </a:ext>
            </a:extLst>
          </p:cNvPr>
          <p:cNvSpPr>
            <a:spLocks noGrp="1"/>
          </p:cNvSpPr>
          <p:nvPr>
            <p:ph type="title"/>
          </p:nvPr>
        </p:nvSpPr>
        <p:spPr>
          <a:xfrm>
            <a:off x="915912" y="362832"/>
            <a:ext cx="5028482" cy="567754"/>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Global Comparisons</a:t>
            </a:r>
          </a:p>
        </p:txBody>
      </p:sp>
      <p:sp>
        <p:nvSpPr>
          <p:cNvPr id="6" name="Text Placeholder 5">
            <a:extLst>
              <a:ext uri="{FF2B5EF4-FFF2-40B4-BE49-F238E27FC236}">
                <a16:creationId xmlns:a16="http://schemas.microsoft.com/office/drawing/2014/main" id="{E978EA32-DD49-54FD-09F4-FF20D9F4FA3A}"/>
              </a:ext>
            </a:extLst>
          </p:cNvPr>
          <p:cNvSpPr>
            <a:spLocks noGrp="1"/>
          </p:cNvSpPr>
          <p:nvPr>
            <p:ph type="body" idx="1"/>
          </p:nvPr>
        </p:nvSpPr>
        <p:spPr>
          <a:xfrm>
            <a:off x="840582" y="1118852"/>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What are the top 10 countries by population and how do their emissions compare?</a:t>
            </a:r>
          </a:p>
        </p:txBody>
      </p:sp>
      <p:sp>
        <p:nvSpPr>
          <p:cNvPr id="15" name="Rectangle 4">
            <a:extLst>
              <a:ext uri="{FF2B5EF4-FFF2-40B4-BE49-F238E27FC236}">
                <a16:creationId xmlns:a16="http://schemas.microsoft.com/office/drawing/2014/main" id="{2948875D-63CD-1E6F-A32F-8E5AFCA15140}"/>
              </a:ext>
            </a:extLst>
          </p:cNvPr>
          <p:cNvSpPr>
            <a:spLocks noChangeArrowheads="1"/>
          </p:cNvSpPr>
          <p:nvPr/>
        </p:nvSpPr>
        <p:spPr bwMode="auto">
          <a:xfrm>
            <a:off x="915912" y="4325344"/>
            <a:ext cx="930963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results show that highly populated countries like China, India, and the United States also have high total emissions, indicating a strong link between population size and emissions.</a:t>
            </a:r>
          </a:p>
          <a:p>
            <a:pPr marL="285750" lvl="0" indent="-285750" eaLnBrk="0" fontAlgn="base" hangingPunct="0">
              <a:spcBef>
                <a:spcPct val="0"/>
              </a:spcBef>
              <a:spcAft>
                <a:spcPct val="0"/>
              </a:spcAft>
              <a:buClrTx/>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However, some countries with large populations have relatively lower emissions, suggesting that economic activity and energy usage patterns also play a significant role.</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F2AB7D7-319D-17E3-F391-1B0656FB8487}"/>
              </a:ext>
            </a:extLst>
          </p:cNvPr>
          <p:cNvPicPr>
            <a:picLocks noChangeAspect="1"/>
          </p:cNvPicPr>
          <p:nvPr/>
        </p:nvPicPr>
        <p:blipFill>
          <a:blip r:embed="rId2"/>
          <a:stretch>
            <a:fillRect/>
          </a:stretch>
        </p:blipFill>
        <p:spPr>
          <a:xfrm>
            <a:off x="915913" y="1909595"/>
            <a:ext cx="3203804" cy="2744032"/>
          </a:xfrm>
          <a:prstGeom prst="rect">
            <a:avLst/>
          </a:prstGeom>
        </p:spPr>
      </p:pic>
      <p:pic>
        <p:nvPicPr>
          <p:cNvPr id="9" name="Picture 8">
            <a:extLst>
              <a:ext uri="{FF2B5EF4-FFF2-40B4-BE49-F238E27FC236}">
                <a16:creationId xmlns:a16="http://schemas.microsoft.com/office/drawing/2014/main" id="{C367B5DB-EEA0-8F7E-7F2C-E1EC0C89D0DF}"/>
              </a:ext>
            </a:extLst>
          </p:cNvPr>
          <p:cNvPicPr>
            <a:picLocks noChangeAspect="1"/>
          </p:cNvPicPr>
          <p:nvPr/>
        </p:nvPicPr>
        <p:blipFill>
          <a:blip r:embed="rId3"/>
          <a:stretch>
            <a:fillRect/>
          </a:stretch>
        </p:blipFill>
        <p:spPr>
          <a:xfrm>
            <a:off x="6458290" y="1118852"/>
            <a:ext cx="5228301" cy="3145368"/>
          </a:xfrm>
          <a:prstGeom prst="rect">
            <a:avLst/>
          </a:prstGeom>
        </p:spPr>
      </p:pic>
    </p:spTree>
    <p:extLst>
      <p:ext uri="{BB962C8B-B14F-4D97-AF65-F5344CB8AC3E}">
        <p14:creationId xmlns:p14="http://schemas.microsoft.com/office/powerpoint/2010/main" val="706642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94F47-453E-352F-4A88-F6B9217EC320}"/>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783D33D4-F47D-9A20-58BE-367A37602662}"/>
              </a:ext>
            </a:extLst>
          </p:cNvPr>
          <p:cNvSpPr>
            <a:spLocks noGrp="1"/>
          </p:cNvSpPr>
          <p:nvPr>
            <p:ph type="body" idx="1"/>
          </p:nvPr>
        </p:nvSpPr>
        <p:spPr>
          <a:xfrm>
            <a:off x="916858" y="357938"/>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What is the global share (%) of emissions by country?</a:t>
            </a:r>
          </a:p>
        </p:txBody>
      </p:sp>
      <p:sp>
        <p:nvSpPr>
          <p:cNvPr id="12" name="Rectangle 1">
            <a:extLst>
              <a:ext uri="{FF2B5EF4-FFF2-40B4-BE49-F238E27FC236}">
                <a16:creationId xmlns:a16="http://schemas.microsoft.com/office/drawing/2014/main" id="{190E341F-242E-918F-8E73-121877879299}"/>
              </a:ext>
            </a:extLst>
          </p:cNvPr>
          <p:cNvSpPr>
            <a:spLocks noChangeArrowheads="1"/>
          </p:cNvSpPr>
          <p:nvPr/>
        </p:nvSpPr>
        <p:spPr bwMode="auto">
          <a:xfrm>
            <a:off x="855406" y="4155613"/>
            <a:ext cx="1048118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China contributes the largest share of global emissions (~32%), followed by the United States and India, indicating a high concentration of emissions among a few major economies.</a:t>
            </a:r>
          </a:p>
          <a:p>
            <a:pPr marL="285750" lvl="0" indent="-285750" eaLnBrk="0" fontAlgn="base" hangingPunct="0">
              <a:spcBef>
                <a:spcPct val="0"/>
              </a:spcBef>
              <a:spcAft>
                <a:spcPct val="0"/>
              </a:spcAft>
              <a:buClrTx/>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shows that a small number of countries account for a significant portion of global emissions, highlighting their critical role in climate impact and policy decisions.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2180AF0-3911-C7F6-3794-E9C601B6F005}"/>
              </a:ext>
            </a:extLst>
          </p:cNvPr>
          <p:cNvPicPr>
            <a:picLocks noChangeAspect="1"/>
          </p:cNvPicPr>
          <p:nvPr/>
        </p:nvPicPr>
        <p:blipFill>
          <a:blip r:embed="rId2"/>
          <a:stretch>
            <a:fillRect/>
          </a:stretch>
        </p:blipFill>
        <p:spPr>
          <a:xfrm>
            <a:off x="1130194" y="1215954"/>
            <a:ext cx="5172797" cy="2429214"/>
          </a:xfrm>
          <a:prstGeom prst="rect">
            <a:avLst/>
          </a:prstGeom>
        </p:spPr>
      </p:pic>
      <p:pic>
        <p:nvPicPr>
          <p:cNvPr id="10" name="Picture 9">
            <a:extLst>
              <a:ext uri="{FF2B5EF4-FFF2-40B4-BE49-F238E27FC236}">
                <a16:creationId xmlns:a16="http://schemas.microsoft.com/office/drawing/2014/main" id="{3E514848-8326-E328-A4E5-C6EDE5A9C3AE}"/>
              </a:ext>
            </a:extLst>
          </p:cNvPr>
          <p:cNvPicPr>
            <a:picLocks noChangeAspect="1"/>
          </p:cNvPicPr>
          <p:nvPr/>
        </p:nvPicPr>
        <p:blipFill>
          <a:blip r:embed="rId3"/>
          <a:stretch>
            <a:fillRect/>
          </a:stretch>
        </p:blipFill>
        <p:spPr>
          <a:xfrm>
            <a:off x="6592481" y="1001131"/>
            <a:ext cx="4744112" cy="1886213"/>
          </a:xfrm>
          <a:prstGeom prst="rect">
            <a:avLst/>
          </a:prstGeom>
        </p:spPr>
      </p:pic>
    </p:spTree>
    <p:extLst>
      <p:ext uri="{BB962C8B-B14F-4D97-AF65-F5344CB8AC3E}">
        <p14:creationId xmlns:p14="http://schemas.microsoft.com/office/powerpoint/2010/main" val="1913614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E24C1-9E13-04CF-CE12-AC2069681352}"/>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9754A6F7-72C7-F43C-5E4E-840017A52DFB}"/>
              </a:ext>
            </a:extLst>
          </p:cNvPr>
          <p:cNvSpPr>
            <a:spLocks noGrp="1"/>
          </p:cNvSpPr>
          <p:nvPr>
            <p:ph type="body" idx="1"/>
          </p:nvPr>
        </p:nvSpPr>
        <p:spPr>
          <a:xfrm>
            <a:off x="916857" y="143115"/>
            <a:ext cx="5179142" cy="858016"/>
          </a:xfrm>
        </p:spPr>
        <p:txBody>
          <a:bodyPr>
            <a:normAutofit/>
          </a:bodyPr>
          <a:lstStyle/>
          <a:p>
            <a:pPr marL="25400" indent="0">
              <a:buNone/>
            </a:pPr>
            <a:r>
              <a:rPr lang="en-US" sz="2000" dirty="0">
                <a:latin typeface="Times New Roman" panose="02020603050405020304" pitchFamily="18" charset="0"/>
                <a:cs typeface="Times New Roman" panose="02020603050405020304" pitchFamily="18" charset="0"/>
              </a:rPr>
              <a:t>What is the global average GDP, emission, and population by year?</a:t>
            </a:r>
          </a:p>
        </p:txBody>
      </p:sp>
      <p:sp>
        <p:nvSpPr>
          <p:cNvPr id="12" name="Rectangle 1">
            <a:extLst>
              <a:ext uri="{FF2B5EF4-FFF2-40B4-BE49-F238E27FC236}">
                <a16:creationId xmlns:a16="http://schemas.microsoft.com/office/drawing/2014/main" id="{0D9C824F-1AAB-67E5-B20F-476ABD409303}"/>
              </a:ext>
            </a:extLst>
          </p:cNvPr>
          <p:cNvSpPr>
            <a:spLocks noChangeArrowheads="1"/>
          </p:cNvSpPr>
          <p:nvPr/>
        </p:nvSpPr>
        <p:spPr bwMode="auto">
          <a:xfrm>
            <a:off x="855405" y="4223779"/>
            <a:ext cx="1048118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Observation:</a:t>
            </a:r>
          </a:p>
          <a:p>
            <a:pPr marR="0" lvl="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global averages of GDP, emissions, and population show a steady upward trend from 2020 to 2023, indicating overall growth across economic and demographic indicators.</a:t>
            </a:r>
          </a:p>
          <a:p>
            <a:pPr marL="285750" lvl="0" indent="-285750" eaLnBrk="0" fontAlgn="base" hangingPunct="0">
              <a:spcBef>
                <a:spcPct val="0"/>
              </a:spcBef>
              <a:spcAft>
                <a:spcPct val="0"/>
              </a:spcAft>
              <a:buClrTx/>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 2024, GDP and population continue to rise, but average emissions are </a:t>
            </a:r>
            <a:r>
              <a:rPr lang="en-US" dirty="0">
                <a:latin typeface="Times New Roman" panose="02020603050405020304" pitchFamily="18" charset="0"/>
                <a:cs typeface="Times New Roman" panose="02020603050405020304" pitchFamily="18" charset="0"/>
              </a:rPr>
              <a:t>NULL</a:t>
            </a:r>
            <a:r>
              <a:rPr lang="en-US" sz="1800" dirty="0">
                <a:latin typeface="Times New Roman" panose="02020603050405020304" pitchFamily="18" charset="0"/>
                <a:cs typeface="Times New Roman" panose="02020603050405020304" pitchFamily="18" charset="0"/>
              </a:rPr>
              <a:t>, suggesting that emission data is unavailable for that year.</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4B066BF-C477-A9F1-7C04-E5A312F0D1CF}"/>
              </a:ext>
            </a:extLst>
          </p:cNvPr>
          <p:cNvPicPr>
            <a:picLocks noChangeAspect="1"/>
          </p:cNvPicPr>
          <p:nvPr/>
        </p:nvPicPr>
        <p:blipFill>
          <a:blip r:embed="rId2"/>
          <a:stretch>
            <a:fillRect/>
          </a:stretch>
        </p:blipFill>
        <p:spPr>
          <a:xfrm>
            <a:off x="916857" y="911437"/>
            <a:ext cx="5334744" cy="3382675"/>
          </a:xfrm>
          <a:prstGeom prst="rect">
            <a:avLst/>
          </a:prstGeom>
        </p:spPr>
      </p:pic>
      <p:pic>
        <p:nvPicPr>
          <p:cNvPr id="5" name="Picture 4">
            <a:extLst>
              <a:ext uri="{FF2B5EF4-FFF2-40B4-BE49-F238E27FC236}">
                <a16:creationId xmlns:a16="http://schemas.microsoft.com/office/drawing/2014/main" id="{7732F3EF-0EE1-18B8-4A7A-81343463F1C5}"/>
              </a:ext>
            </a:extLst>
          </p:cNvPr>
          <p:cNvPicPr>
            <a:picLocks noChangeAspect="1"/>
          </p:cNvPicPr>
          <p:nvPr/>
        </p:nvPicPr>
        <p:blipFill>
          <a:blip r:embed="rId3"/>
          <a:stretch>
            <a:fillRect/>
          </a:stretch>
        </p:blipFill>
        <p:spPr>
          <a:xfrm>
            <a:off x="6951066" y="892212"/>
            <a:ext cx="4877481" cy="1686160"/>
          </a:xfrm>
          <a:prstGeom prst="rect">
            <a:avLst/>
          </a:prstGeom>
        </p:spPr>
      </p:pic>
    </p:spTree>
    <p:extLst>
      <p:ext uri="{BB962C8B-B14F-4D97-AF65-F5344CB8AC3E}">
        <p14:creationId xmlns:p14="http://schemas.microsoft.com/office/powerpoint/2010/main" val="1738944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9DEF-89CA-A2D6-D3EC-477F8E778C84}"/>
              </a:ext>
            </a:extLst>
          </p:cNvPr>
          <p:cNvSpPr>
            <a:spLocks noGrp="1"/>
          </p:cNvSpPr>
          <p:nvPr>
            <p:ph type="title"/>
          </p:nvPr>
        </p:nvSpPr>
        <p:spPr>
          <a:xfrm>
            <a:off x="444500" y="0"/>
            <a:ext cx="2794000" cy="904875"/>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B3B7422F-A42C-D0BC-BCC8-74FDAE65E36E}"/>
              </a:ext>
            </a:extLst>
          </p:cNvPr>
          <p:cNvSpPr>
            <a:spLocks noChangeArrowheads="1"/>
          </p:cNvSpPr>
          <p:nvPr/>
        </p:nvSpPr>
        <p:spPr bwMode="auto">
          <a:xfrm>
            <a:off x="584302" y="1104338"/>
            <a:ext cx="10801453" cy="4499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project provided valuable insights into global energy consumption, production, emissions, GDP, and population trends across countries and years. The analysis revealed that energy usage and emissions are highly concentrated in major economies, and there is a strong relationship between economic growth and energy demand.</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project also highlighted that per capita metrics and efficiency ratios are important for meaningful comparisons, as countries with large populations do not always have the highest per capita impact. Additionally, some limitations in the dataset, such as constant per capita emission values and missing data for certain years, emphasized the importance of data quality in analysis.</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Overall, this project helped in strengthening practical SQL skills, including joins, aggregations, subqueries, and window functions, while also demonstrating how data can be used to derive real-world insights about energy usage, sustainability, and economic patterns.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6870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B056F-9062-30AD-DC3E-EDA58FCBD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0E098-0529-B472-5056-1F631A096169}"/>
              </a:ext>
            </a:extLst>
          </p:cNvPr>
          <p:cNvSpPr>
            <a:spLocks noGrp="1"/>
          </p:cNvSpPr>
          <p:nvPr>
            <p:ph type="title"/>
          </p:nvPr>
        </p:nvSpPr>
        <p:spPr>
          <a:xfrm>
            <a:off x="-386121" y="343396"/>
            <a:ext cx="7346950" cy="771525"/>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Experiences &amp; Challenges:</a:t>
            </a:r>
          </a:p>
        </p:txBody>
      </p:sp>
      <p:sp>
        <p:nvSpPr>
          <p:cNvPr id="5" name="Rectangle 2">
            <a:extLst>
              <a:ext uri="{FF2B5EF4-FFF2-40B4-BE49-F238E27FC236}">
                <a16:creationId xmlns:a16="http://schemas.microsoft.com/office/drawing/2014/main" id="{78DC544B-842A-DC6D-E87F-53FD8C670CD8}"/>
              </a:ext>
            </a:extLst>
          </p:cNvPr>
          <p:cNvSpPr>
            <a:spLocks noChangeArrowheads="1"/>
          </p:cNvSpPr>
          <p:nvPr/>
        </p:nvSpPr>
        <p:spPr bwMode="auto">
          <a:xfrm>
            <a:off x="203073" y="1134586"/>
            <a:ext cx="1183161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Worked with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multi-table real-world dataset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containing energy consumption, production, emissions, GDP, and population data, which improved my understanding of relational databases and analytical thinking.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Gained practical experience in using SQL concepts such as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joins, aggregations, subqueries, and window functions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answer business-oriented questions and generate meaningful insights.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Faced challenges in identifying the correct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grouping level, join conditions, and calculation logic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especially while working with per capita metrics, trend analysis, and country-year comparisons.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Encountered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quality issues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missing values, repeated per capita emission values, and inconsistent year availability, which helped me understand the importance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validation and debugging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real-world analysis. </a:t>
            </a:r>
          </a:p>
        </p:txBody>
      </p:sp>
    </p:spTree>
    <p:extLst>
      <p:ext uri="{BB962C8B-B14F-4D97-AF65-F5344CB8AC3E}">
        <p14:creationId xmlns:p14="http://schemas.microsoft.com/office/powerpoint/2010/main" val="1363571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368</TotalTime>
  <Words>1506</Words>
  <Application>Microsoft Office PowerPoint</Application>
  <PresentationFormat>Widescreen</PresentationFormat>
  <Paragraphs>134</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Libre Baskerville</vt:lpstr>
      <vt:lpstr>Times New Roman</vt:lpstr>
      <vt:lpstr>Wingdings</vt:lpstr>
      <vt:lpstr>Calibri</vt:lpstr>
      <vt:lpstr>Arial</vt:lpstr>
      <vt:lpstr>Office Theme</vt:lpstr>
      <vt:lpstr>PowerPoint Presentation</vt:lpstr>
      <vt:lpstr>Team Members:</vt:lpstr>
      <vt:lpstr>Preface:</vt:lpstr>
      <vt:lpstr>Introduction:</vt:lpstr>
      <vt:lpstr>About Dataset:</vt:lpstr>
      <vt:lpstr>Objectives:</vt:lpstr>
      <vt:lpstr>Tools Used:</vt:lpstr>
      <vt:lpstr>General &amp; Comparative Analysis</vt:lpstr>
      <vt:lpstr>PowerPoint Presentation</vt:lpstr>
      <vt:lpstr>Trend Analysis Overtime</vt:lpstr>
      <vt:lpstr>PowerPoint Presentation</vt:lpstr>
      <vt:lpstr>PowerPoint Presentation</vt:lpstr>
      <vt:lpstr>Ratio &amp; Per Capita Analysis</vt:lpstr>
      <vt:lpstr>PowerPoint Presentation</vt:lpstr>
      <vt:lpstr>PowerPoint Presentation</vt:lpstr>
      <vt:lpstr>Global Comparisons</vt:lpstr>
      <vt:lpstr>PowerPoint Presentation</vt:lpstr>
      <vt:lpstr>PowerPoint Presentation</vt:lpstr>
      <vt:lpstr>Conclusion:</vt:lpstr>
      <vt:lpstr>Experiences &amp; 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Dileep Seepani</cp:lastModifiedBy>
  <cp:revision>18</cp:revision>
  <dcterms:created xsi:type="dcterms:W3CDTF">2021-02-16T05:19:01Z</dcterms:created>
  <dcterms:modified xsi:type="dcterms:W3CDTF">2026-04-06T15:05:50Z</dcterms:modified>
</cp:coreProperties>
</file>